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14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70" r:id="rId21"/>
    <p:sldId id="264" r:id="rId15"/>
    <p:sldId id="265" r:id="rId16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  <Relationship Id="rId21" Type="http://schemas.openxmlformats.org/officeDocument/2006/relationships/slide" Target="slides/slide14.xml"/>
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huggingface.co/datasets/suehuynh/marketing-instruct-13k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ink.springer.com/article/10.1007/s44336-024-00009-2" TargetMode="External"/><Relationship Id="rId3" Type="http://schemas.openxmlformats.org/officeDocument/2006/relationships/hyperlink" Target="https://www.nature.com/articles/s41598-025-16650-w" TargetMode="External"/><Relationship Id="rId4" Type="http://schemas.openxmlformats.org/officeDocument/2006/relationships/hyperlink" Target="https://arxiv.org/abs/2005.11401" TargetMode="External"/><Relationship Id="rId5" Type="http://schemas.openxmlformats.org/officeDocument/2006/relationships/hyperlink" Target="https://www.microsoft.com/en-us/research/publication/multilingual-e5-text-embeddings-a-technical-report/" TargetMode="External"/><Relationship Id="rId6" Type="http://schemas.openxmlformats.org/officeDocument/2006/relationships/hyperlink" Target="https://huggingface.co/datasets/suehuynh/marketing-instruct-13k" TargetMode="External"/><Relationship Id="rId7" Type="http://schemas.openxmlformats.org/officeDocument/2006/relationships/hyperlink" Target="https://learn.microsoft.com/en-us/azure/architecture/ai-ml/guide/rag/rag-information-retrieval" TargetMode="External"/><Relationship Id="rId8" Type="http://schemas.openxmlformats.org/officeDocument/2006/relationships/hyperlink" Target="https://www.amazon.science/publications/llms-for-customized-marketing-content-generation-and-evaluation-at-scale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huggingface.co/datasets/suehuynh/marketing-instruct-13k" TargetMode="External"/><Relationship Id="rIdHist" Type="http://schemas.openxmlformats.org/officeDocument/2006/relationships/image" Target="../media/hist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6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2A46"/>
          </a:solidFill>
          <a:ln>
            <a:solidFill>
              <a:srgbClr val="192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7E82"/>
          </a:solidFill>
          <a:ln>
            <a:solidFill>
              <a:srgbClr val="1F7E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4241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Aptos Display"/>
              </a:defRPr>
            </a:pPr>
            <a:r>
              <a:t>AdGenie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23160"/>
            <a:ext cx="104241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DCE6EF"/>
                </a:solidFill>
                <a:latin typeface="Aptos"/>
              </a:defRPr>
            </a:pPr>
            <a:r>
              <a:t>A RAG-Based Multi-Agent System</a:t>
            </a:r>
            <a:br/>
            <a:r>
              <a:t>for Social-Media Campaign Planning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257800"/>
            <a:ext cx="10424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FFFFFF"/>
                </a:solidFill>
                <a:latin typeface="Aptos"/>
              </a:defRPr>
            </a:pPr>
            <a:r>
              <a:t>Leila Mehbani  |  Nancy Nezzal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806440"/>
            <a:ext cx="10424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EC0D0"/>
                </a:solidFill>
                <a:latin typeface="Aptos"/>
              </a:defRPr>
            </a:pPr>
            <a:r>
              <a:t>Seminar 1  •  Problem framing, related work, and dataset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19456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7E80"/>
                </a:solidFill>
                <a:latin typeface="Aptos"/>
              </a:defRPr>
            </a:pPr>
            <a:r>
              <a:t>02 | FRAMING CARD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94360"/>
            <a:ext cx="11155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223553"/>
                </a:solidFill>
                <a:latin typeface="Aptos Display"/>
              </a:defRPr>
            </a:pPr>
            <a:r>
              <a:t>Project Scope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17F"/>
                </a:solidFill>
                <a:latin typeface="Aptos"/>
              </a:defRPr>
            </a:pPr>
            <a:r>
              <a:t>The seven required elements of the project framing card.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72768"/>
            <a:ext cx="2240280" cy="576072"/>
          </a:xfrm>
          <a:prstGeom prst="roundRect">
            <a:avLst/>
          </a:prstGeom>
          <a:solidFill>
            <a:srgbClr val="223553"/>
          </a:solidFill>
          <a:ln>
            <a:solidFill>
              <a:srgbClr val="2235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73152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Task type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07792" y="1572768"/>
            <a:ext cx="8778240" cy="576072"/>
          </a:xfrm>
          <a:prstGeom prst="roundRect">
            <a:avLst/>
          </a:prstGeom>
          <a:solidFill>
            <a:srgbClr val="F1F6FA"/>
          </a:solidFill>
          <a:ln>
            <a:solidFill>
              <a:srgbClr val="F1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09728"/>
          <a:lstStyle/>
          <a:p>
            <a:pPr algn="ctr">
              <a:defRPr sz="1150">
                <a:solidFill>
                  <a:srgbClr val="2A3441"/>
                </a:solidFill>
                <a:latin typeface="Aptos"/>
              </a:defRPr>
            </a:pPr>
            <a:r>
              <a:t>Generation and retrieval in a multi-agent workflow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231136"/>
            <a:ext cx="2240280" cy="576072"/>
          </a:xfrm>
          <a:prstGeom prst="roundRect">
            <a:avLst/>
          </a:prstGeom>
          <a:solidFill>
            <a:srgbClr val="223553"/>
          </a:solidFill>
          <a:ln>
            <a:solidFill>
              <a:srgbClr val="2235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73152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Input → output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07792" y="2231136"/>
            <a:ext cx="8778240" cy="576072"/>
          </a:xfrm>
          <a:prstGeom prst="roundRect">
            <a:avLst/>
          </a:prstGeom>
          <a:solidFill>
            <a:srgbClr val="F1F6FA"/>
          </a:solidFill>
          <a:ln>
            <a:solidFill>
              <a:srgbClr val="F1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09728"/>
          <a:lstStyle/>
          <a:p>
            <a:pPr algn="ctr">
              <a:defRPr sz="1150">
                <a:solidFill>
                  <a:srgbClr val="2A3441"/>
                </a:solidFill>
                <a:latin typeface="Aptos"/>
              </a:defRPr>
            </a:pPr>
            <a:r>
              <a:t>Product, platform, audience and goal → campaign strategy, content pillars, posting calendar, captions and CTA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889504"/>
            <a:ext cx="2240280" cy="576072"/>
          </a:xfrm>
          <a:prstGeom prst="roundRect">
            <a:avLst/>
          </a:prstGeom>
          <a:solidFill>
            <a:srgbClr val="223553"/>
          </a:solidFill>
          <a:ln>
            <a:solidFill>
              <a:srgbClr val="2235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73152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Users &amp; affected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07792" y="2889504"/>
            <a:ext cx="8778240" cy="576072"/>
          </a:xfrm>
          <a:prstGeom prst="roundRect">
            <a:avLst/>
          </a:prstGeom>
          <a:solidFill>
            <a:srgbClr val="F1F6FA"/>
          </a:solidFill>
          <a:ln>
            <a:solidFill>
              <a:srgbClr val="F1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09728"/>
          <a:lstStyle/>
          <a:p>
            <a:pPr algn="ctr">
              <a:defRPr sz="1150">
                <a:solidFill>
                  <a:srgbClr val="2A3441"/>
                </a:solidFill>
                <a:latin typeface="Aptos"/>
              </a:defRPr>
            </a:pPr>
            <a:r>
              <a:t>Small-business owners, online stores and social-media managers; audiences receiving the generated content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547872"/>
            <a:ext cx="2240280" cy="576072"/>
          </a:xfrm>
          <a:prstGeom prst="roundRect">
            <a:avLst/>
          </a:prstGeom>
          <a:solidFill>
            <a:srgbClr val="223553"/>
          </a:solidFill>
          <a:ln>
            <a:solidFill>
              <a:srgbClr val="2235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73152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Costlier error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07792" y="3547872"/>
            <a:ext cx="8778240" cy="576072"/>
          </a:xfrm>
          <a:prstGeom prst="roundRect">
            <a:avLst/>
          </a:prstGeom>
          <a:solidFill>
            <a:srgbClr val="F1F6FA"/>
          </a:solidFill>
          <a:ln>
            <a:solidFill>
              <a:srgbClr val="F1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09728"/>
          <a:lstStyle/>
          <a:p>
            <a:pPr algn="ctr">
              <a:defRPr sz="1150">
                <a:solidFill>
                  <a:srgbClr val="2A3441"/>
                </a:solidFill>
                <a:latin typeface="Aptos"/>
              </a:defRPr>
            </a:pPr>
            <a:r>
              <a:t>Invented product facts can mislead audiences and damage brand trust; unmet requirements can make content unusable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206240"/>
            <a:ext cx="2240280" cy="576072"/>
          </a:xfrm>
          <a:prstGeom prst="roundRect">
            <a:avLst/>
          </a:prstGeom>
          <a:solidFill>
            <a:srgbClr val="223553"/>
          </a:solidFill>
          <a:ln>
            <a:solidFill>
              <a:srgbClr val="2235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73152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Metric + threshold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07792" y="4206240"/>
            <a:ext cx="8778240" cy="576072"/>
          </a:xfrm>
          <a:prstGeom prst="roundRect">
            <a:avLst/>
          </a:prstGeom>
          <a:solidFill>
            <a:srgbClr val="F1F6FA"/>
          </a:solidFill>
          <a:ln>
            <a:solidFill>
              <a:srgbClr val="F1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09728"/>
          <a:lstStyle/>
          <a:p>
            <a:pPr algn="ctr">
              <a:defRPr sz="1150">
                <a:solidFill>
                  <a:srgbClr val="2A3441"/>
                </a:solidFill>
                <a:latin typeface="Aptos"/>
              </a:defRPr>
            </a:pPr>
            <a:r>
              <a:t>Primary: Requirement Recall ≥ 0.90 (requirements met ÷ requirements in the brief). Guardrail: Fact Precision ≥ 0.95 (supported claims ÷ product claims). Must beat baseline by ≥ 15 points.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864607"/>
            <a:ext cx="2240280" cy="576072"/>
          </a:xfrm>
          <a:prstGeom prst="roundRect">
            <a:avLst/>
          </a:prstGeom>
          <a:solidFill>
            <a:srgbClr val="223553"/>
          </a:solidFill>
          <a:ln>
            <a:solidFill>
              <a:srgbClr val="2235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73152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Baseline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07792" y="4864607"/>
            <a:ext cx="8778240" cy="576072"/>
          </a:xfrm>
          <a:prstGeom prst="roundRect">
            <a:avLst/>
          </a:prstGeom>
          <a:solidFill>
            <a:srgbClr val="F1F6FA"/>
          </a:solidFill>
          <a:ln>
            <a:solidFill>
              <a:srgbClr val="F1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09728"/>
          <a:lstStyle/>
          <a:p>
            <a:pPr algn="ctr">
              <a:defRPr sz="1150">
                <a:solidFill>
                  <a:srgbClr val="2A3441"/>
                </a:solidFill>
                <a:latin typeface="Aptos"/>
              </a:defRPr>
            </a:pPr>
            <a:r>
              <a:t>Same Qwen2.5-1.5B-Instruct, used as-is (no fine-tuning), with the same request but without RAG or agent review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5522976"/>
            <a:ext cx="2240280" cy="576072"/>
          </a:xfrm>
          <a:prstGeom prst="roundRect">
            <a:avLst/>
          </a:prstGeom>
          <a:solidFill>
            <a:srgbClr val="223553"/>
          </a:solidFill>
          <a:ln>
            <a:solidFill>
              <a:srgbClr val="2235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73152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Test-set size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07792" y="5522976"/>
            <a:ext cx="8778240" cy="576072"/>
          </a:xfrm>
          <a:prstGeom prst="roundRect">
            <a:avLst/>
          </a:prstGeom>
          <a:solidFill>
            <a:srgbClr val="F1F6FA"/>
          </a:solidFill>
          <a:ln>
            <a:solidFill>
              <a:srgbClr val="F1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09728"/>
          <a:lstStyle/>
          <a:p>
            <a:pPr algn="ctr">
              <a:defRPr sz="1150">
                <a:solidFill>
                  <a:srgbClr val="2A3441"/>
                </a:solidFill>
                <a:latin typeface="Aptos"/>
              </a:defRPr>
            </a:pPr>
            <a:r>
              <a:t>30 planned English client-brief prompts, shared across all system variants; descriptive pilot evaluation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51052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17F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A46"/>
                </a:solidFill>
                <a:latin typeface="Aptos Display"/>
              </a:defRPr>
            </a:pPr>
            <a:r>
              <a:t>2. What Will Be Compared?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49808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06E7E"/>
                </a:solidFill>
                <a:latin typeface="Aptos"/>
              </a:defRPr>
            </a:pPr>
            <a:r>
              <a:t>A controlled comparison: add one component at a time.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234440"/>
          <a:ext cx="11155679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9280"/>
                <a:gridCol w="5577839"/>
                <a:gridCol w="3718560"/>
              </a:tblGrid>
              <a:tr h="77724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Variant</a:t>
                      </a:r>
                    </a:p>
                  </a:txBody>
                  <a:tcPr>
                    <a:solidFill>
                      <a:srgbClr val="192A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192A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192A46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A — Baseline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LLM generates from the client brief only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Reference point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B — RAG</a:t>
                      </a:r>
                    </a:p>
                  </a:txBody>
                  <a:tcPr marL="64008" marR="64008" marT="36576" marB="27432" anchor="ctr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LLM + retrieval of relevant marketing examples</a:t>
                      </a:r>
                    </a:p>
                  </a:txBody>
                  <a:tcPr marL="64008" marR="64008" marT="36576" marB="27432" anchor="ctr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Measure retrieval contribution</a:t>
                      </a:r>
                    </a:p>
                  </a:txBody>
                  <a:tcPr marL="64008" marR="64008" marT="36576" marB="27432" anchor="ctr">
                    <a:solidFill>
                      <a:srgbClr val="EFF4F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C — RAG + Agents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RAG + planning/content/evaluation workflow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Measure review and refinement contribution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02920" y="4663440"/>
            <a:ext cx="5440680" cy="1097280"/>
          </a:xfrm>
          <a:prstGeom prst="roundRect">
            <a:avLst/>
          </a:prstGeom>
          <a:solidFill>
            <a:srgbClr val="EFF4F8"/>
          </a:solidFill>
          <a:ln>
            <a:solidFill>
              <a:srgbClr val="EF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4663440"/>
            <a:ext cx="73152" cy="1097280"/>
          </a:xfrm>
          <a:prstGeom prst="rect">
            <a:avLst/>
          </a:prstGeom>
          <a:solidFill>
            <a:srgbClr val="1F7E82"/>
          </a:solidFill>
          <a:ln>
            <a:solidFill>
              <a:srgbClr val="1F7E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4782312"/>
            <a:ext cx="509320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92A46"/>
                </a:solidFill>
                <a:latin typeface="Aptos"/>
              </a:defRPr>
            </a:pPr>
            <a:r>
              <a:t>Retrieval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5138927"/>
            <a:ext cx="5074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232B34"/>
                </a:solidFill>
                <a:latin typeface="Aptos"/>
              </a:defRPr>
            </a:pPr>
            <a:r>
              <a:t>Find relevant examples from the dataset.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663440"/>
            <a:ext cx="5440680" cy="1097280"/>
          </a:xfrm>
          <a:prstGeom prst="roundRect">
            <a:avLst/>
          </a:prstGeom>
          <a:solidFill>
            <a:srgbClr val="EFF4F8"/>
          </a:solidFill>
          <a:ln>
            <a:solidFill>
              <a:srgbClr val="EF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4663440"/>
            <a:ext cx="73152" cy="1097280"/>
          </a:xfrm>
          <a:prstGeom prst="rect">
            <a:avLst/>
          </a:prstGeom>
          <a:solidFill>
            <a:srgbClr val="315D91"/>
          </a:solidFill>
          <a:ln>
            <a:solidFill>
              <a:srgbClr val="315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4782312"/>
            <a:ext cx="509320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92A46"/>
                </a:solidFill>
                <a:latin typeface="Aptos"/>
              </a:defRPr>
            </a:pPr>
            <a:r>
              <a:t>Agent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5138927"/>
            <a:ext cx="5074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232B34"/>
                </a:solidFill>
                <a:latin typeface="Aptos"/>
              </a:defRPr>
            </a:pPr>
            <a:r>
              <a:t>Check the plan against the client brief and improve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1400" y="6510528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06E7E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01168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7E80"/>
                </a:solidFill>
                <a:latin typeface="Aptos"/>
              </a:defRPr>
            </a:pPr>
            <a:r>
              <a:t>03 | LITERATURE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0292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223553"/>
                </a:solidFill>
                <a:latin typeface="Aptos Display"/>
              </a:defRPr>
            </a:pPr>
            <a:r>
              <a:t>Research Comparison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87552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7717F"/>
                </a:solidFill>
                <a:latin typeface="Aptos"/>
              </a:defRPr>
            </a:pPr>
            <a:r>
              <a:t>The same seven fields are used for every study. N/A means the field does not apply to that study's contribution.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92608" y="1417320"/>
          <a:ext cx="11612876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534"/>
                <a:gridCol w="1575616"/>
                <a:gridCol w="1575616"/>
                <a:gridCol w="1993836"/>
                <a:gridCol w="1604794"/>
                <a:gridCol w="1702055"/>
                <a:gridCol w="1653425"/>
              </a:tblGrid>
              <a:tr h="10744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Research</a:t>
                      </a:r>
                    </a:p>
                  </a:txBody>
                  <a:tcPr anchor="ctr" marL="36576" marR="36576">
                    <a:solidFill>
                      <a:srgbClr val="2235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Input</a:t>
                      </a:r>
                    </a:p>
                  </a:txBody>
                  <a:tcPr anchor="ctr" marL="36576" marR="36576">
                    <a:solidFill>
                      <a:srgbClr val="2235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Output</a:t>
                      </a:r>
                    </a:p>
                  </a:txBody>
                  <a:tcPr anchor="ctr" marL="36576" marR="36576">
                    <a:solidFill>
                      <a:srgbClr val="2235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Data</a:t>
                      </a:r>
                    </a:p>
                  </a:txBody>
                  <a:tcPr anchor="ctr" marL="36576" marR="36576">
                    <a:solidFill>
                      <a:srgbClr val="2235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Embedding</a:t>
                      </a:r>
                    </a:p>
                  </a:txBody>
                  <a:tcPr anchor="ctr" marL="36576" marR="36576">
                    <a:solidFill>
                      <a:srgbClr val="2235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Ranker</a:t>
                      </a:r>
                    </a:p>
                  </a:txBody>
                  <a:tcPr anchor="ctr" marL="36576" marR="36576">
                    <a:solidFill>
                      <a:srgbClr val="2235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Reranker</a:t>
                      </a:r>
                    </a:p>
                  </a:txBody>
                  <a:tcPr anchor="ctr" marL="36576" marR="36576">
                    <a:solidFill>
                      <a:srgbClr val="223553"/>
                    </a:solidFill>
                  </a:tcPr>
                </a:tc>
              </a:tr>
              <a:tr h="1074420"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223553"/>
                          </a:solidFill>
                          <a:latin typeface="Aptos"/>
                        </a:defRPr>
                      </a:pPr>
                      <a:r>
                        <a:t>MarketingFM</a:t>
                      </a:r>
                    </a:p>
                    <a:p>
                      <a:pPr>
                        <a:defRPr sz="850" b="1">
                          <a:solidFill>
                            <a:srgbClr val="223553"/>
                          </a:solidFill>
                          <a:latin typeface="Aptos"/>
                        </a:defRPr>
                      </a:pPr>
                      <a:r>
                        <a:t>Liu et al., 2025</a:t>
                      </a:r>
                    </a:p>
                  </a:txBody>
                  <a:tcPr anchor="ctr" marL="50292" marR="5029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Search keyword + product/landing-page context</a:t>
                      </a:r>
                    </a:p>
                  </a:txBody>
                  <a:tcPr anchor="ctr" marL="50292" marR="5029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Keyword-specific ad headline and description</a:t>
                      </a:r>
                    </a:p>
                  </a:txBody>
                  <a:tcPr anchor="ctr" marL="50292" marR="5029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E-commerce product catalog/landing-page information; human and automated ad evaluations; online A/B test</a:t>
                      </a:r>
                    </a:p>
                  </a:txBody>
                  <a:tcPr anchor="ctr" marL="50292" marR="5029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Sentence encoder for semantic retrieval</a:t>
                      </a:r>
                    </a:p>
                  </a:txBody>
                  <a:tcPr anchor="ctr" marL="50292" marR="5029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Similarity score (e.g., dot product) ranks product candidates</a:t>
                      </a:r>
                    </a:p>
                  </a:txBody>
                  <a:tcPr anchor="ctr" marL="50292" marR="5029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No separate reranker stage identified in the described pipeline</a:t>
                      </a:r>
                    </a:p>
                  </a:txBody>
                  <a:tcPr anchor="ctr" marL="50292" marR="50292" marT="36576" marB="36576"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223553"/>
                          </a:solidFill>
                          <a:latin typeface="Aptos"/>
                        </a:defRPr>
                      </a:pPr>
                      <a:r>
                        <a:t>Koo, 2025</a:t>
                      </a:r>
                    </a:p>
                    <a:p>
                      <a:pPr>
                        <a:defRPr sz="850" b="1">
                          <a:solidFill>
                            <a:srgbClr val="223553"/>
                          </a:solidFill>
                          <a:latin typeface="Aptos"/>
                        </a:defRPr>
                      </a:pPr>
                      <a:r>
                        <a:t>Cross-lingual effects</a:t>
                      </a:r>
                    </a:p>
                  </a:txBody>
                  <a:tcPr anchor="ctr" marL="50292" marR="50292" marT="36576" marB="36576">
                    <a:solidFill>
                      <a:srgbClr val="F1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200 typical business issues; generated responses in English, Arabic and Chinese</a:t>
                      </a:r>
                    </a:p>
                  </a:txBody>
                  <a:tcPr anchor="ctr" marL="50292" marR="50292" marT="36576" marB="36576">
                    <a:solidFill>
                      <a:srgbClr val="F1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600 ChatGPT-4 business recommendations; human-written business emails in follow-up study</a:t>
                      </a:r>
                    </a:p>
                  </a:txBody>
                  <a:tcPr anchor="ctr" marL="50292" marR="50292" marT="36576" marB="36576">
                    <a:solidFill>
                      <a:srgbClr val="F1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Study 1: 200 issues × 3 languages; Study 2: 480 participants (160 per language)</a:t>
                      </a:r>
                    </a:p>
                  </a:txBody>
                  <a:tcPr anchor="ctr" marL="50292" marR="50292" marT="36576" marB="36576">
                    <a:solidFill>
                      <a:srgbClr val="F1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N/A — not an embedding/retrieval study</a:t>
                      </a:r>
                    </a:p>
                  </a:txBody>
                  <a:tcPr anchor="ctr" marL="50292" marR="50292" marT="36576" marB="36576">
                    <a:solidFill>
                      <a:srgbClr val="F1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N/A</a:t>
                      </a:r>
                    </a:p>
                  </a:txBody>
                  <a:tcPr anchor="ctr" marL="50292" marR="50292" marT="36576" marB="36576">
                    <a:solidFill>
                      <a:srgbClr val="F1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N/A</a:t>
                      </a:r>
                    </a:p>
                  </a:txBody>
                  <a:tcPr anchor="ctr" marL="50292" marR="50292" marT="36576" marB="36576">
                    <a:solidFill>
                      <a:srgbClr val="F1F6FA"/>
                    </a:solidFill>
                  </a:tcPr>
                </a:tc>
              </a:tr>
              <a:tr h="1074420"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223553"/>
                          </a:solidFill>
                          <a:latin typeface="Aptos"/>
                        </a:defRPr>
                      </a:pPr>
                      <a:r>
                        <a:t>Lewis et al., 2020</a:t>
                      </a:r>
                    </a:p>
                    <a:p>
                      <a:pPr>
                        <a:defRPr sz="850" b="1">
                          <a:solidFill>
                            <a:srgbClr val="223553"/>
                          </a:solidFill>
                          <a:latin typeface="Aptos"/>
                        </a:defRPr>
                      </a:pPr>
                      <a:r>
                        <a:t>Original RAG</a:t>
                      </a:r>
                    </a:p>
                  </a:txBody>
                  <a:tcPr anchor="ctr" marL="50292" marR="5029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Input query + retrieved passages</a:t>
                      </a:r>
                    </a:p>
                  </a:txBody>
                  <a:tcPr anchor="ctr" marL="50292" marR="5029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Generated answers/text conditioned on query and passages</a:t>
                      </a:r>
                    </a:p>
                  </a:txBody>
                  <a:tcPr anchor="ctr" marL="50292" marR="5029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Wikipedia index; evaluated on NQ, WebQuestions, CuratedTREC, TriviaQA, MS MARCO, Jeopardy question generation and FEVER</a:t>
                      </a:r>
                    </a:p>
                  </a:txBody>
                  <a:tcPr anchor="ctr" marL="50292" marR="5029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Dense Passage Retriever (DPR) query/document encoders</a:t>
                      </a:r>
                    </a:p>
                  </a:txBody>
                  <a:tcPr anchor="ctr" marL="50292" marR="5029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DPR retrieves top-K passages using maximum inner-product search</a:t>
                      </a:r>
                    </a:p>
                  </a:txBody>
                  <a:tcPr anchor="ctr" marL="50292" marR="5029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No distinct second-stage reranker in the original RAG architecture</a:t>
                      </a:r>
                    </a:p>
                  </a:txBody>
                  <a:tcPr anchor="ctr" marL="50292" marR="5029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11480" y="5879592"/>
            <a:ext cx="11338560" cy="438912"/>
          </a:xfrm>
          <a:prstGeom prst="roundRect">
            <a:avLst/>
          </a:prstGeom>
          <a:solidFill>
            <a:srgbClr val="FAF6EC"/>
          </a:solidFill>
          <a:ln>
            <a:solidFill>
              <a:srgbClr val="FAF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23553"/>
                </a:solidFill>
                <a:latin typeface="Aptos"/>
              </a:defRPr>
            </a:pPr>
            <a:r>
              <a:t>Evidence note: ranker = first-stage candidate ordering; reranker = a separate second-stage reordering step.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73968" y="65105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17F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01168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7E80"/>
                </a:solidFill>
                <a:latin typeface="Aptos"/>
              </a:defRPr>
            </a:pPr>
            <a:r>
              <a:t>04 | LITERATURE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0292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223553"/>
                </a:solidFill>
                <a:latin typeface="Aptos Display"/>
              </a:defRPr>
            </a:pPr>
            <a:r>
              <a:t>Research Comparison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87552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7717F"/>
                </a:solidFill>
                <a:latin typeface="Aptos"/>
              </a:defRPr>
            </a:pPr>
            <a:r>
              <a:t>These studies support multilingual retrieval and multi-agent design, but they do not all propose a complete RAG pipeline.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92608" y="1417320"/>
          <a:ext cx="11612876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534"/>
                <a:gridCol w="1575616"/>
                <a:gridCol w="1575616"/>
                <a:gridCol w="1993836"/>
                <a:gridCol w="1604794"/>
                <a:gridCol w="1702055"/>
                <a:gridCol w="1653425"/>
              </a:tblGrid>
              <a:tr h="14325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Research</a:t>
                      </a:r>
                    </a:p>
                  </a:txBody>
                  <a:tcPr anchor="ctr" marL="36576" marR="36576">
                    <a:solidFill>
                      <a:srgbClr val="2235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Input</a:t>
                      </a:r>
                    </a:p>
                  </a:txBody>
                  <a:tcPr anchor="ctr" marL="36576" marR="36576">
                    <a:solidFill>
                      <a:srgbClr val="2235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Output</a:t>
                      </a:r>
                    </a:p>
                  </a:txBody>
                  <a:tcPr anchor="ctr" marL="36576" marR="36576">
                    <a:solidFill>
                      <a:srgbClr val="2235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Data</a:t>
                      </a:r>
                    </a:p>
                  </a:txBody>
                  <a:tcPr anchor="ctr" marL="36576" marR="36576">
                    <a:solidFill>
                      <a:srgbClr val="2235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Embedding</a:t>
                      </a:r>
                    </a:p>
                  </a:txBody>
                  <a:tcPr anchor="ctr" marL="36576" marR="36576">
                    <a:solidFill>
                      <a:srgbClr val="2235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Ranker</a:t>
                      </a:r>
                    </a:p>
                  </a:txBody>
                  <a:tcPr anchor="ctr" marL="36576" marR="36576">
                    <a:solidFill>
                      <a:srgbClr val="2235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Reranker</a:t>
                      </a:r>
                    </a:p>
                  </a:txBody>
                  <a:tcPr anchor="ctr" marL="36576" marR="36576">
                    <a:solidFill>
                      <a:srgbClr val="223553"/>
                    </a:solidFill>
                  </a:tcPr>
                </a:tc>
              </a:tr>
              <a:tr h="1432560">
                <a:tc>
                  <a:txBody>
                    <a:bodyPr wrap="square"/>
                    <a:lstStyle/>
                    <a:p>
                      <a:pPr>
                        <a:defRPr sz="880" b="1">
                          <a:solidFill>
                            <a:srgbClr val="223553"/>
                          </a:solidFill>
                          <a:latin typeface="Aptos"/>
                        </a:defRPr>
                      </a:pPr>
                      <a:r>
                        <a:t>Multilingual E5</a:t>
                      </a:r>
                    </a:p>
                    <a:p>
                      <a:pPr>
                        <a:defRPr sz="880" b="1">
                          <a:solidFill>
                            <a:srgbClr val="223553"/>
                          </a:solidFill>
                          <a:latin typeface="Aptos"/>
                        </a:defRPr>
                      </a:pPr>
                      <a:r>
                        <a:t>Wang et al., 2024</a:t>
                      </a:r>
                    </a:p>
                  </a:txBody>
                  <a:tcPr anchor="ctr" marL="50292" marR="5029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8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Text/query to be represented for semantic retrieval</a:t>
                      </a:r>
                    </a:p>
                  </a:txBody>
                  <a:tcPr anchor="ctr" marL="50292" marR="5029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8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Vector embeddings; supports similarity search and retrieval, not ad copy generation</a:t>
                      </a:r>
                    </a:p>
                  </a:txBody>
                  <a:tcPr anchor="ctr" marL="50292" marR="5029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8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Training: about 1B multilingual text pairs; fine-tuning: about 1.6M labeled examples; evaluated on MTEB, MIRACL and bitext-mining benchmarks</a:t>
                      </a:r>
                    </a:p>
                  </a:txBody>
                  <a:tcPr anchor="ctr" marL="50292" marR="5029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8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Multilingual E5 (small/base/large; instruction-tuned variant also reported)</a:t>
                      </a:r>
                    </a:p>
                  </a:txBody>
                  <a:tcPr anchor="ctr" marL="50292" marR="5029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8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Similarity-based retrieval using embedding scores; benchmarked against BM25 and mDPR</a:t>
                      </a:r>
                    </a:p>
                  </a:txBody>
                  <a:tcPr anchor="ctr" marL="50292" marR="5029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8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No separate online reranker proposed as the core method; cross-encoder is used as a training/distillation teacher</a:t>
                      </a:r>
                    </a:p>
                  </a:txBody>
                  <a:tcPr anchor="ctr" marL="50292" marR="50292" marT="36576" marB="36576">
                    <a:solidFill>
                      <a:srgbClr val="FFFFFF"/>
                    </a:solidFill>
                  </a:tcPr>
                </a:tc>
              </a:tr>
              <a:tr h="1432560">
                <a:tc>
                  <a:txBody>
                    <a:bodyPr wrap="square"/>
                    <a:lstStyle/>
                    <a:p>
                      <a:pPr>
                        <a:defRPr sz="880" b="1">
                          <a:solidFill>
                            <a:srgbClr val="223553"/>
                          </a:solidFill>
                          <a:latin typeface="Aptos"/>
                        </a:defRPr>
                      </a:pPr>
                      <a:r>
                        <a:t>Li et al., 2024</a:t>
                      </a:r>
                    </a:p>
                    <a:p>
                      <a:pPr>
                        <a:defRPr sz="880" b="1">
                          <a:solidFill>
                            <a:srgbClr val="223553"/>
                          </a:solidFill>
                          <a:latin typeface="Aptos"/>
                        </a:defRPr>
                      </a:pPr>
                      <a:r>
                        <a:t>Multi-agent systems survey</a:t>
                      </a:r>
                    </a:p>
                  </a:txBody>
                  <a:tcPr anchor="ctr" marL="50292" marR="50292" marT="36576" marB="36576">
                    <a:solidFill>
                      <a:srgbClr val="F1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8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Existing LLM-based multi-agent studies and system designs</a:t>
                      </a:r>
                    </a:p>
                  </a:txBody>
                  <a:tcPr anchor="ctr" marL="50292" marR="50292" marT="36576" marB="36576">
                    <a:solidFill>
                      <a:srgbClr val="F1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8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A survey/framework of agent workflow, infrastructure, applications and challenges</a:t>
                      </a:r>
                    </a:p>
                  </a:txBody>
                  <a:tcPr anchor="ctr" marL="50292" marR="50292" marT="36576" marB="36576">
                    <a:solidFill>
                      <a:srgbClr val="F1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8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Literature review of published systems; not one single task dataset or benchmark</a:t>
                      </a:r>
                    </a:p>
                  </a:txBody>
                  <a:tcPr anchor="ctr" marL="50292" marR="50292" marT="36576" marB="36576">
                    <a:solidFill>
                      <a:srgbClr val="F1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8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N/A — not an embedding model paper</a:t>
                      </a:r>
                    </a:p>
                  </a:txBody>
                  <a:tcPr anchor="ctr" marL="50292" marR="50292" marT="36576" marB="36576">
                    <a:solidFill>
                      <a:srgbClr val="F1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8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N/A</a:t>
                      </a:r>
                    </a:p>
                  </a:txBody>
                  <a:tcPr anchor="ctr" marL="50292" marR="50292" marT="36576" marB="36576">
                    <a:solidFill>
                      <a:srgbClr val="F1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8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N/A</a:t>
                      </a:r>
                    </a:p>
                  </a:txBody>
                  <a:tcPr anchor="ctr" marL="50292" marR="50292" marT="36576" marB="36576">
                    <a:solidFill>
                      <a:srgbClr val="F1F6FA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11480" y="5879592"/>
            <a:ext cx="11338560" cy="438912"/>
          </a:xfrm>
          <a:prstGeom prst="roundRect">
            <a:avLst/>
          </a:prstGeom>
          <a:solidFill>
            <a:srgbClr val="F1F6FA"/>
          </a:solidFill>
          <a:ln>
            <a:solidFill>
              <a:srgbClr val="F1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23553"/>
                </a:solidFill>
                <a:latin typeface="Aptos"/>
              </a:defRPr>
            </a:pPr>
            <a:r>
              <a:t>Important distinction: a cross-encoder used to train an embedding model is not automatically an online reranker.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73968" y="65105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17F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01168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7E80"/>
                </a:solidFill>
                <a:latin typeface="Aptos"/>
              </a:defRPr>
            </a:pPr>
            <a:r>
              <a:t>05 | LITERATURE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0292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223553"/>
                </a:solidFill>
                <a:latin typeface="Aptos Display"/>
              </a:defRPr>
            </a:pPr>
            <a:r>
              <a:t>Coverage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87552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7717F"/>
                </a:solidFill>
                <a:latin typeface="Aptos"/>
              </a:defRPr>
            </a:pPr>
            <a:r>
              <a:t>✓ = directly relevant to this component; — = not the main focus of the paper.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417320"/>
          <a:ext cx="10972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1463040"/>
                <a:gridCol w="1828800"/>
                <a:gridCol w="1463040"/>
                <a:gridCol w="1554480"/>
                <a:gridCol w="1828800"/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Research</a:t>
                      </a:r>
                    </a:p>
                  </a:txBody>
                  <a:tcPr anchor="ctr">
                    <a:solidFill>
                      <a:srgbClr val="2235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Marketing</a:t>
                      </a:r>
                    </a:p>
                  </a:txBody>
                  <a:tcPr anchor="ctr">
                    <a:solidFill>
                      <a:srgbClr val="2235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RAG / retrieval</a:t>
                      </a:r>
                    </a:p>
                  </a:txBody>
                  <a:tcPr anchor="ctr">
                    <a:solidFill>
                      <a:srgbClr val="2235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Multilingual</a:t>
                      </a:r>
                    </a:p>
                  </a:txBody>
                  <a:tcPr anchor="ctr">
                    <a:solidFill>
                      <a:srgbClr val="2235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Multi-agent</a:t>
                      </a:r>
                    </a:p>
                  </a:txBody>
                  <a:tcPr anchor="ctr">
                    <a:solidFill>
                      <a:srgbClr val="2235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Evaluation</a:t>
                      </a:r>
                    </a:p>
                  </a:txBody>
                  <a:tcPr anchor="ctr">
                    <a:solidFill>
                      <a:srgbClr val="223553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23553"/>
                          </a:solidFill>
                          <a:latin typeface="Aptos"/>
                        </a:defRPr>
                      </a:pPr>
                      <a:r>
                        <a:t>MarketingFM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23553"/>
                          </a:solidFill>
                          <a:latin typeface="Aptos"/>
                        </a:defRPr>
                      </a:pPr>
                      <a:r>
                        <a:t>Koo (2025)</a:t>
                      </a:r>
                    </a:p>
                  </a:txBody>
                  <a:tcPr anchor="ctr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✓ (business content)</a:t>
                      </a:r>
                    </a:p>
                  </a:txBody>
                  <a:tcPr anchor="ctr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✓</a:t>
                      </a:r>
                    </a:p>
                  </a:txBody>
                  <a:tcPr anchor="ctr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✓</a:t>
                      </a:r>
                    </a:p>
                  </a:txBody>
                  <a:tcPr anchor="ctr">
                    <a:solidFill>
                      <a:srgbClr val="F1F6F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23553"/>
                          </a:solidFill>
                          <a:latin typeface="Aptos"/>
                        </a:defRPr>
                      </a:pPr>
                      <a:r>
                        <a:t>Lewis et al. (2020)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23553"/>
                          </a:solidFill>
                          <a:latin typeface="Aptos"/>
                        </a:defRPr>
                      </a:pPr>
                      <a:r>
                        <a:t>Multilingual E5</a:t>
                      </a:r>
                    </a:p>
                  </a:txBody>
                  <a:tcPr anchor="ctr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✓ (embeddings)</a:t>
                      </a:r>
                    </a:p>
                  </a:txBody>
                  <a:tcPr anchor="ctr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✓</a:t>
                      </a:r>
                    </a:p>
                  </a:txBody>
                  <a:tcPr anchor="ctr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✓</a:t>
                      </a:r>
                    </a:p>
                  </a:txBody>
                  <a:tcPr anchor="ctr">
                    <a:solidFill>
                      <a:srgbClr val="F1F6F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23553"/>
                          </a:solidFill>
                          <a:latin typeface="Aptos"/>
                        </a:defRPr>
                      </a:pPr>
                      <a:r>
                        <a:t>Li et al. (2024)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✓ (surveyed methods)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5715000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7717F"/>
                </a:solidFill>
                <a:latin typeface="Aptos"/>
              </a:defRPr>
            </a:pPr>
            <a:r>
              <a:t>This matrix shows topic coverage; it does not claim every paper implements every component.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73968" y="65105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17F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A46"/>
                </a:solidFill>
                <a:latin typeface="Aptos Display"/>
              </a:defRPr>
            </a:pPr>
            <a:r>
              <a:t>6. Research Gap &amp; Proposed Contribution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325880"/>
          <a:ext cx="1092708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08245"/>
                <a:gridCol w="5918835"/>
              </a:tblGrid>
              <a:tr h="88011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Gap in the reviewed literature</a:t>
                      </a:r>
                    </a:p>
                  </a:txBody>
                  <a:tcPr>
                    <a:solidFill>
                      <a:srgbClr val="192A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AdGenie response</a:t>
                      </a:r>
                    </a:p>
                  </a:txBody>
                  <a:tcPr>
                    <a:solidFill>
                      <a:srgbClr val="192A46"/>
                    </a:solidFill>
                  </a:tcPr>
                </a:tc>
              </a:tr>
              <a:tr h="88011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MarketingFM generates a single ad (headline + description), not a full campaign plan.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Generate strategy, content pillars, and a publishing calendar in one structured plan.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</a:tr>
              <a:tr h="88011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RAG and E5 are tested on QA/retrieval benchmarks; the agent paper is a survey, not a marketing pipeline.</a:t>
                      </a:r>
                    </a:p>
                  </a:txBody>
                  <a:tcPr marL="64008" marR="64008" marT="36576" marB="27432" anchor="ctr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Use retrieval as context, then review outputs against the brief.</a:t>
                      </a:r>
                    </a:p>
                  </a:txBody>
                  <a:tcPr marL="64008" marR="64008" marT="36576" marB="27432" anchor="ctr">
                    <a:solidFill>
                      <a:srgbClr val="EFF4F8"/>
                    </a:solidFill>
                  </a:tcPr>
                </a:tc>
              </a:tr>
              <a:tr h="88011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Evaluation in the reviewed work targets ad quality, QA answers or retrieval benchmarks, not whether a plan meets every requirement of a client brief.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Score every plan against its brief with Requirement Recall and Fact Precision.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640080" y="5166360"/>
            <a:ext cx="10927080" cy="777240"/>
          </a:xfrm>
          <a:prstGeom prst="roundRect">
            <a:avLst/>
          </a:prstGeom>
          <a:solidFill>
            <a:srgbClr val="EBF6F3"/>
          </a:solidFill>
          <a:ln>
            <a:solidFill>
              <a:srgbClr val="EBF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92A46"/>
                </a:solidFill>
                <a:latin typeface="Aptos"/>
              </a:defRPr>
            </a:pPr>
            <a:r>
              <a:t>Gap: no reviewed study tests a retrieval + review workflow for full campaign plans, scored against explicit brief requirements. Contribution: a practical, testable workflow that does.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510528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06E7E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A46"/>
                </a:solidFill>
                <a:latin typeface="Aptos Display"/>
              </a:defRPr>
            </a:pPr>
            <a:r>
              <a:t>7. Dataset EDA — Key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49808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06E7E"/>
                </a:solidFill>
                <a:latin typeface="Aptos"/>
              </a:defRPr>
            </a:pPr>
            <a:r>
              <a:t>Marketing-Instruct CSV audit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2560320" cy="1325880"/>
          </a:xfrm>
          <a:prstGeom prst="roundRect">
            <a:avLst/>
          </a:prstGeom>
          <a:solidFill>
            <a:srgbClr val="EFF4F8"/>
          </a:solidFill>
          <a:ln>
            <a:solidFill>
              <a:srgbClr val="EF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27632"/>
            <a:ext cx="22860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F7E82"/>
                </a:solidFill>
                <a:latin typeface="Aptos Display"/>
              </a:defRPr>
            </a:pPr>
            <a:r>
              <a:t>13,141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76272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192A46"/>
                </a:solidFill>
                <a:latin typeface="Aptos"/>
              </a:defRPr>
            </a:pPr>
            <a:r>
              <a:t>rows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417320"/>
            <a:ext cx="2560320" cy="1325880"/>
          </a:xfrm>
          <a:prstGeom prst="roundRect">
            <a:avLst/>
          </a:prstGeom>
          <a:solidFill>
            <a:srgbClr val="EFF4F8"/>
          </a:solidFill>
          <a:ln>
            <a:solidFill>
              <a:srgbClr val="EF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627632"/>
            <a:ext cx="22860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F7E82"/>
                </a:solidFill>
                <a:latin typeface="Aptos Display"/>
              </a:defRPr>
            </a:pPr>
            <a: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2176272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192A46"/>
                </a:solidFill>
                <a:latin typeface="Aptos"/>
              </a:defRPr>
            </a:pPr>
            <a:r>
              <a:t>text columns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1417320"/>
            <a:ext cx="2560320" cy="1325880"/>
          </a:xfrm>
          <a:prstGeom prst="roundRect">
            <a:avLst/>
          </a:prstGeom>
          <a:solidFill>
            <a:srgbClr val="EFF4F8"/>
          </a:solidFill>
          <a:ln>
            <a:solidFill>
              <a:srgbClr val="EF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627632"/>
            <a:ext cx="22860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F7E82"/>
                </a:solidFill>
                <a:latin typeface="Aptos Display"/>
              </a:defRPr>
            </a:pPr>
            <a:r>
              <a:t>31.5%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799" y="2176272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192A46"/>
                </a:solidFill>
                <a:latin typeface="Aptos"/>
              </a:defRPr>
            </a:pPr>
            <a:r>
              <a:t>missing original_completion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89719" y="1417320"/>
            <a:ext cx="2560320" cy="1325880"/>
          </a:xfrm>
          <a:prstGeom prst="roundRect">
            <a:avLst/>
          </a:prstGeom>
          <a:solidFill>
            <a:srgbClr val="EFF4F8"/>
          </a:solidFill>
          <a:ln>
            <a:solidFill>
              <a:srgbClr val="EF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0" y="1627632"/>
            <a:ext cx="22860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F7E82"/>
                </a:solidFill>
                <a:latin typeface="Aptos Display"/>
              </a:defRPr>
            </a:pPr>
            <a: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81159" y="2176272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192A46"/>
                </a:solidFill>
                <a:latin typeface="Aptos"/>
              </a:defRPr>
            </a:pPr>
            <a:r>
              <a:t>fully duplicated rows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40080" y="3246120"/>
          <a:ext cx="10927079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2468880"/>
                <a:gridCol w="5440679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Column</a:t>
                      </a:r>
                    </a:p>
                  </a:txBody>
                  <a:tcPr>
                    <a:solidFill>
                      <a:srgbClr val="192A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Median characters</a:t>
                      </a:r>
                    </a:p>
                  </a:txBody>
                  <a:tcPr>
                    <a:solidFill>
                      <a:srgbClr val="192A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Use / note</a:t>
                      </a:r>
                    </a:p>
                  </a:txBody>
                  <a:tcPr>
                    <a:solidFill>
                      <a:srgbClr val="192A4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enhanced_prompt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662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Candidate retrieval query / client brief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enhanced_completion</a:t>
                      </a:r>
                    </a:p>
                  </a:txBody>
                  <a:tcPr marL="64008" marR="64008" marT="36576" marB="27432" anchor="ctr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1,341</a:t>
                      </a:r>
                    </a:p>
                  </a:txBody>
                  <a:tcPr marL="64008" marR="64008" marT="36576" marB="27432" anchor="ctr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Candidate retrieved marketing example</a:t>
                      </a:r>
                    </a:p>
                  </a:txBody>
                  <a:tcPr marL="64008" marR="64008" marT="36576" marB="27432" anchor="ctr">
                    <a:solidFill>
                      <a:srgbClr val="EF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original_completion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699*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Missing in 4,136 rows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685800" y="53492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06E7E"/>
                </a:solidFill>
                <a:latin typeface="Aptos"/>
              </a:defRPr>
            </a:pPr>
            <a:r>
              <a:t>*Median among non-missing values. Dataset audit completed; model experiments have not been run.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510528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06E7E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A46"/>
                </a:solidFill>
                <a:latin typeface="Aptos Display"/>
              </a:defRPr>
            </a:pPr>
            <a:r>
              <a:t>8. Dataset Fit &amp;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49808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06E7E"/>
                </a:solidFill>
                <a:latin typeface="Aptos"/>
              </a:defRPr>
            </a:pPr>
            <a:r>
              <a:t>What the current dataset can and cannot support.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280160"/>
          <a:ext cx="10972799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19"/>
                <a:gridCol w="3840480"/>
                <a:gridCol w="3657600"/>
              </a:tblGrid>
              <a:tr h="10515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Suitable for</a:t>
                      </a:r>
                    </a:p>
                  </a:txBody>
                  <a:tcPr>
                    <a:solidFill>
                      <a:srgbClr val="192A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Limitations to report</a:t>
                      </a:r>
                    </a:p>
                  </a:txBody>
                  <a:tcPr>
                    <a:solidFill>
                      <a:srgbClr val="192A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Planned handling</a:t>
                      </a:r>
                    </a:p>
                  </a:txBody>
                  <a:tcPr>
                    <a:solidFill>
                      <a:srgbClr val="192A46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English marketing prompts and responses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English-only, so results do not transfer to other languages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Define the project scope as English and make no multilingual claims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Retrieval examples for copy and campaign ideas</a:t>
                      </a:r>
                    </a:p>
                  </a:txBody>
                  <a:tcPr marL="64008" marR="64008" marT="36576" marB="27432" anchor="ctr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No verified business outcome labels identified in this audit</a:t>
                      </a:r>
                    </a:p>
                  </a:txBody>
                  <a:tcPr marL="64008" marR="64008" marT="36576" marB="27432" anchor="ctr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Evaluate relevance and quality with a human rubric</a:t>
                      </a:r>
                    </a:p>
                  </a:txBody>
                  <a:tcPr marL="64008" marR="64008" marT="36576" marB="27432" anchor="ctr">
                    <a:solidFill>
                      <a:srgbClr val="EFF4F8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Prompt → completion examples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31.5% of original_completion is missing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Use enhanced fields for initial experiments; document filtering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94360" y="5669280"/>
            <a:ext cx="10972800" cy="548640"/>
          </a:xfrm>
          <a:prstGeom prst="roundRect">
            <a:avLst/>
          </a:prstGeom>
          <a:solidFill>
            <a:srgbClr val="FAF6EC"/>
          </a:solidFill>
          <a:ln>
            <a:solidFill>
              <a:srgbClr val="FAF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92A46"/>
                </a:solidFill>
                <a:latin typeface="Aptos"/>
              </a:defRPr>
            </a:pPr>
            <a:r>
              <a:t>Important: AdGenie is scoped to English; no claim is made about other languages.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06E7E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A46"/>
                </a:solidFill>
                <a:latin typeface="Aptos Display"/>
              </a:defRPr>
            </a:pPr>
            <a:r>
              <a:t>9. Proposed System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49808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06E7E"/>
                </a:solidFill>
                <a:latin typeface="Aptos"/>
              </a:defRPr>
            </a:pPr>
            <a:r>
              <a:t>The workflow focuses on planning and publishing cadence, not budget allocation.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645920"/>
            <a:ext cx="1755648" cy="2468880"/>
          </a:xfrm>
          <a:prstGeom prst="roundRect">
            <a:avLst/>
          </a:prstGeom>
          <a:solidFill>
            <a:srgbClr val="EFF4F8"/>
          </a:solidFill>
          <a:ln>
            <a:solidFill>
              <a:srgbClr val="EF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33272" y="1847088"/>
            <a:ext cx="502920" cy="502920"/>
          </a:xfrm>
          <a:prstGeom prst="ellipse">
            <a:avLst/>
          </a:prstGeom>
          <a:solidFill>
            <a:srgbClr val="1F7E82"/>
          </a:solidFill>
          <a:ln>
            <a:solidFill>
              <a:srgbClr val="1F7E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" y="2514600"/>
            <a:ext cx="160934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92A46"/>
                </a:solidFill>
                <a:latin typeface="Aptos"/>
              </a:defRPr>
            </a:pPr>
            <a:r>
              <a:t>Client brief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971800"/>
            <a:ext cx="157276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232B34"/>
                </a:solidFill>
                <a:latin typeface="Aptos"/>
              </a:defRPr>
            </a:pPr>
            <a:r>
              <a:t>Product • audience</a:t>
            </a:r>
          </a:p>
          <a:p>
            <a:pPr algn="ctr">
              <a:defRPr sz="1100">
                <a:solidFill>
                  <a:srgbClr val="232B34"/>
                </a:solidFill>
                <a:latin typeface="Aptos"/>
              </a:defRPr>
            </a:pPr>
            <a:r>
              <a:t>platform • language</a:t>
            </a:r>
          </a:p>
          <a:p>
            <a:pPr algn="ctr">
              <a:defRPr sz="1100">
                <a:solidFill>
                  <a:srgbClr val="232B34"/>
                </a:solidFill>
                <a:latin typeface="Aptos"/>
              </a:defRPr>
            </a:pPr>
            <a:r>
              <a:t>goal • duration</a:t>
            </a:r>
          </a:p>
        </p:txBody>
      </p:sp>
      <p:sp>
        <p:nvSpPr>
          <p:cNvPr id="8" name="Chevron 7"/>
          <p:cNvSpPr/>
          <p:nvPr/>
        </p:nvSpPr>
        <p:spPr>
          <a:xfrm>
            <a:off x="2185416" y="2578608"/>
            <a:ext cx="182880" cy="347472"/>
          </a:xfrm>
          <a:prstGeom prst="chevron">
            <a:avLst/>
          </a:prstGeom>
          <a:solidFill>
            <a:srgbClr val="1F7E82"/>
          </a:solidFill>
          <a:ln>
            <a:solidFill>
              <a:srgbClr val="1F7E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368296" y="1645920"/>
            <a:ext cx="1755648" cy="2468880"/>
          </a:xfrm>
          <a:prstGeom prst="roundRect">
            <a:avLst/>
          </a:prstGeom>
          <a:solidFill>
            <a:srgbClr val="EFF4F8"/>
          </a:solidFill>
          <a:ln>
            <a:solidFill>
              <a:srgbClr val="EF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990088" y="1847088"/>
            <a:ext cx="502920" cy="502920"/>
          </a:xfrm>
          <a:prstGeom prst="ellipse">
            <a:avLst/>
          </a:prstGeom>
          <a:solidFill>
            <a:srgbClr val="315D91"/>
          </a:solidFill>
          <a:ln>
            <a:solidFill>
              <a:srgbClr val="315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41448" y="2514600"/>
            <a:ext cx="160934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92A46"/>
                </a:solidFill>
                <a:latin typeface="Aptos"/>
              </a:defRPr>
            </a:pPr>
            <a:r>
              <a:t>Retrieve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59736" y="2971800"/>
            <a:ext cx="157276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232B34"/>
                </a:solidFill>
                <a:latin typeface="Aptos"/>
              </a:defRPr>
            </a:pPr>
            <a:r>
              <a:t>Find relevant</a:t>
            </a:r>
          </a:p>
          <a:p>
            <a:pPr algn="ctr">
              <a:defRPr sz="1100">
                <a:solidFill>
                  <a:srgbClr val="232B34"/>
                </a:solidFill>
                <a:latin typeface="Aptos"/>
              </a:defRPr>
            </a:pPr>
            <a:r>
              <a:t>marketing examples</a:t>
            </a:r>
          </a:p>
        </p:txBody>
      </p:sp>
      <p:sp>
        <p:nvSpPr>
          <p:cNvPr id="13" name="Chevron 12"/>
          <p:cNvSpPr/>
          <p:nvPr/>
        </p:nvSpPr>
        <p:spPr>
          <a:xfrm>
            <a:off x="4142231" y="2578608"/>
            <a:ext cx="182880" cy="347472"/>
          </a:xfrm>
          <a:prstGeom prst="chevron">
            <a:avLst/>
          </a:prstGeom>
          <a:solidFill>
            <a:srgbClr val="1F7E82"/>
          </a:solidFill>
          <a:ln>
            <a:solidFill>
              <a:srgbClr val="1F7E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25112" y="1645920"/>
            <a:ext cx="1755648" cy="2468880"/>
          </a:xfrm>
          <a:prstGeom prst="roundRect">
            <a:avLst/>
          </a:prstGeom>
          <a:solidFill>
            <a:srgbClr val="EFF4F8"/>
          </a:solidFill>
          <a:ln>
            <a:solidFill>
              <a:srgbClr val="EF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946904" y="1847088"/>
            <a:ext cx="502920" cy="502920"/>
          </a:xfrm>
          <a:prstGeom prst="ellipse">
            <a:avLst/>
          </a:prstGeom>
          <a:solidFill>
            <a:srgbClr val="1F7E82"/>
          </a:solidFill>
          <a:ln>
            <a:solidFill>
              <a:srgbClr val="1F7E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98264" y="2514600"/>
            <a:ext cx="160934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92A46"/>
                </a:solidFill>
                <a:latin typeface="Aptos"/>
              </a:defRPr>
            </a:pPr>
            <a:r>
              <a:t>Plan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6552" y="2971800"/>
            <a:ext cx="157276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232B34"/>
                </a:solidFill>
                <a:latin typeface="Aptos"/>
              </a:defRPr>
            </a:pPr>
            <a:r>
              <a:t>Strategy + content</a:t>
            </a:r>
          </a:p>
          <a:p>
            <a:pPr algn="ctr">
              <a:defRPr sz="1100">
                <a:solidFill>
                  <a:srgbClr val="232B34"/>
                </a:solidFill>
                <a:latin typeface="Aptos"/>
              </a:defRPr>
            </a:pPr>
            <a:r>
              <a:t>pillars + calendar</a:t>
            </a:r>
          </a:p>
        </p:txBody>
      </p:sp>
      <p:sp>
        <p:nvSpPr>
          <p:cNvPr id="18" name="Chevron 17"/>
          <p:cNvSpPr/>
          <p:nvPr/>
        </p:nvSpPr>
        <p:spPr>
          <a:xfrm>
            <a:off x="6099048" y="2578608"/>
            <a:ext cx="182880" cy="347472"/>
          </a:xfrm>
          <a:prstGeom prst="chevron">
            <a:avLst/>
          </a:prstGeom>
          <a:solidFill>
            <a:srgbClr val="1F7E82"/>
          </a:solidFill>
          <a:ln>
            <a:solidFill>
              <a:srgbClr val="1F7E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81928" y="1645920"/>
            <a:ext cx="1755648" cy="2468880"/>
          </a:xfrm>
          <a:prstGeom prst="roundRect">
            <a:avLst/>
          </a:prstGeom>
          <a:solidFill>
            <a:srgbClr val="EFF4F8"/>
          </a:solidFill>
          <a:ln>
            <a:solidFill>
              <a:srgbClr val="EF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903720" y="1847088"/>
            <a:ext cx="502920" cy="502920"/>
          </a:xfrm>
          <a:prstGeom prst="ellipse">
            <a:avLst/>
          </a:prstGeom>
          <a:solidFill>
            <a:srgbClr val="315D91"/>
          </a:solidFill>
          <a:ln>
            <a:solidFill>
              <a:srgbClr val="315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514600"/>
            <a:ext cx="160934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92A46"/>
                </a:solidFill>
                <a:latin typeface="Aptos"/>
              </a:defRPr>
            </a:pPr>
            <a:r>
              <a:t>Create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2971800"/>
            <a:ext cx="157276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232B34"/>
                </a:solidFill>
                <a:latin typeface="Aptos"/>
              </a:defRPr>
            </a:pPr>
            <a:r>
              <a:t>Posts, stories,</a:t>
            </a:r>
          </a:p>
          <a:p>
            <a:pPr algn="ctr">
              <a:defRPr sz="1100">
                <a:solidFill>
                  <a:srgbClr val="232B34"/>
                </a:solidFill>
                <a:latin typeface="Aptos"/>
              </a:defRPr>
            </a:pPr>
            <a:r>
              <a:t>CTA and hashtags</a:t>
            </a:r>
          </a:p>
        </p:txBody>
      </p:sp>
      <p:sp>
        <p:nvSpPr>
          <p:cNvPr id="23" name="Chevron 22"/>
          <p:cNvSpPr/>
          <p:nvPr/>
        </p:nvSpPr>
        <p:spPr>
          <a:xfrm>
            <a:off x="8055863" y="2578608"/>
            <a:ext cx="182880" cy="347472"/>
          </a:xfrm>
          <a:prstGeom prst="chevron">
            <a:avLst/>
          </a:prstGeom>
          <a:solidFill>
            <a:srgbClr val="1F7E82"/>
          </a:solidFill>
          <a:ln>
            <a:solidFill>
              <a:srgbClr val="1F7E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38744" y="1645920"/>
            <a:ext cx="1755648" cy="2468880"/>
          </a:xfrm>
          <a:prstGeom prst="roundRect">
            <a:avLst/>
          </a:prstGeom>
          <a:solidFill>
            <a:srgbClr val="EFF4F8"/>
          </a:solidFill>
          <a:ln>
            <a:solidFill>
              <a:srgbClr val="EF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860536" y="1847088"/>
            <a:ext cx="502920" cy="502920"/>
          </a:xfrm>
          <a:prstGeom prst="ellipse">
            <a:avLst/>
          </a:prstGeom>
          <a:solidFill>
            <a:srgbClr val="1F7E82"/>
          </a:solidFill>
          <a:ln>
            <a:solidFill>
              <a:srgbClr val="1F7E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11896" y="2514600"/>
            <a:ext cx="160934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92A46"/>
                </a:solidFill>
                <a:latin typeface="Aptos"/>
              </a:defRPr>
            </a:pPr>
            <a:r>
              <a:t>Evaluate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0183" y="2971800"/>
            <a:ext cx="157276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232B34"/>
                </a:solidFill>
                <a:latin typeface="Aptos"/>
              </a:defRPr>
            </a:pPr>
            <a:r>
              <a:t>Check relevance,</a:t>
            </a:r>
          </a:p>
          <a:p>
            <a:pPr algn="ctr">
              <a:defRPr sz="1100">
                <a:solidFill>
                  <a:srgbClr val="232B34"/>
                </a:solidFill>
                <a:latin typeface="Aptos"/>
              </a:defRPr>
            </a:pPr>
            <a:r>
              <a:t>consistency, brief fit</a:t>
            </a:r>
          </a:p>
        </p:txBody>
      </p:sp>
      <p:sp>
        <p:nvSpPr>
          <p:cNvPr id="28" name="Chevron 27"/>
          <p:cNvSpPr/>
          <p:nvPr/>
        </p:nvSpPr>
        <p:spPr>
          <a:xfrm>
            <a:off x="10012680" y="2578608"/>
            <a:ext cx="182880" cy="347472"/>
          </a:xfrm>
          <a:prstGeom prst="chevron">
            <a:avLst/>
          </a:prstGeom>
          <a:solidFill>
            <a:srgbClr val="1F7E82"/>
          </a:solidFill>
          <a:ln>
            <a:solidFill>
              <a:srgbClr val="1F7E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195560" y="1645920"/>
            <a:ext cx="1755648" cy="2468880"/>
          </a:xfrm>
          <a:prstGeom prst="roundRect">
            <a:avLst/>
          </a:prstGeom>
          <a:solidFill>
            <a:srgbClr val="EFF4F8"/>
          </a:solidFill>
          <a:ln>
            <a:solidFill>
              <a:srgbClr val="EF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817352" y="1847088"/>
            <a:ext cx="502920" cy="502920"/>
          </a:xfrm>
          <a:prstGeom prst="ellipse">
            <a:avLst/>
          </a:prstGeom>
          <a:solidFill>
            <a:srgbClr val="315D91"/>
          </a:solidFill>
          <a:ln>
            <a:solidFill>
              <a:srgbClr val="315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68712" y="2514600"/>
            <a:ext cx="160934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92A46"/>
                </a:solidFill>
                <a:latin typeface="Aptos"/>
              </a:defRPr>
            </a:pPr>
            <a:r>
              <a:t>Refine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87000" y="2971800"/>
            <a:ext cx="157276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232B34"/>
                </a:solidFill>
                <a:latin typeface="Aptos"/>
              </a:defRPr>
            </a:pPr>
            <a:r>
              <a:t>Improve weak parts</a:t>
            </a:r>
          </a:p>
          <a:p>
            <a:pPr algn="ctr">
              <a:defRPr sz="1100">
                <a:solidFill>
                  <a:srgbClr val="232B34"/>
                </a:solidFill>
                <a:latin typeface="Aptos"/>
              </a:defRPr>
            </a:pPr>
            <a:r>
              <a:t>before final output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4892040"/>
            <a:ext cx="10698480" cy="777240"/>
          </a:xfrm>
          <a:prstGeom prst="roundRect">
            <a:avLst/>
          </a:prstGeom>
          <a:solidFill>
            <a:srgbClr val="EBF6F3"/>
          </a:solidFill>
          <a:ln>
            <a:solidFill>
              <a:srgbClr val="EBF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92A46"/>
                </a:solidFill>
                <a:latin typeface="Aptos"/>
              </a:defRPr>
            </a:pPr>
            <a:r>
              <a:t>Final output: a structured campaign plan + a practical publishing calendar.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01400" y="6510528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06E7E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A46"/>
                </a:solidFill>
                <a:latin typeface="Aptos Display"/>
              </a:defRPr>
            </a:pPr>
            <a:r>
              <a:t>10. Proposed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49808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06E7E"/>
                </a:solidFill>
                <a:latin typeface="Aptos"/>
              </a:defRPr>
            </a:pPr>
            <a:r>
              <a:t>Each tool has one clear role; final choices depend on experiments.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280160"/>
          <a:ext cx="1097280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3840480"/>
                <a:gridCol w="4937760"/>
              </a:tblGrid>
              <a:tr h="7239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192A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Candidate</a:t>
                      </a:r>
                    </a:p>
                  </a:txBody>
                  <a:tcPr>
                    <a:solidFill>
                      <a:srgbClr val="192A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192A46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Language model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Qwen2.5-1.5B-Instruct (same model in all variants)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Generate the initial plan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Embeddings</a:t>
                      </a:r>
                    </a:p>
                  </a:txBody>
                  <a:tcPr marL="64008" marR="64008" marT="36576" marB="27432" anchor="ctr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multilingual-e5-base</a:t>
                      </a:r>
                    </a:p>
                  </a:txBody>
                  <a:tcPr marL="64008" marR="64008" marT="36576" marB="27432" anchor="ctr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Represent prompts/examples for retrieval</a:t>
                      </a:r>
                    </a:p>
                  </a:txBody>
                  <a:tcPr marL="64008" marR="64008" marT="36576" marB="27432" anchor="ctr">
                    <a:solidFill>
                      <a:srgbClr val="EFF4F8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Vector store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ChromaDB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Store and search dataset examples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Workflow</a:t>
                      </a:r>
                    </a:p>
                  </a:txBody>
                  <a:tcPr marL="64008" marR="64008" marT="36576" marB="27432" anchor="ctr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LangGraph</a:t>
                      </a:r>
                    </a:p>
                  </a:txBody>
                  <a:tcPr marL="64008" marR="64008" marT="36576" marB="27432" anchor="ctr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Coordinate planning, content, and evaluation steps</a:t>
                      </a:r>
                    </a:p>
                  </a:txBody>
                  <a:tcPr marL="64008" marR="64008" marT="36576" marB="27432" anchor="ctr">
                    <a:solidFill>
                      <a:srgbClr val="EFF4F8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Optional reranker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Cross-encoder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Reorder retrieved examples by relevance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94360" y="5806440"/>
            <a:ext cx="10972800" cy="411480"/>
          </a:xfrm>
          <a:prstGeom prst="roundRect">
            <a:avLst/>
          </a:prstGeom>
          <a:solidFill>
            <a:srgbClr val="EFF4F8"/>
          </a:solidFill>
          <a:ln>
            <a:solidFill>
              <a:srgbClr val="EF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606E7E"/>
                </a:solidFill>
                <a:latin typeface="Aptos"/>
              </a:defRPr>
            </a:pPr>
            <a:r>
              <a:t>Status: candidate stack only; not presented as implemented or experimentally validated.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06E7E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A46"/>
                </a:solidFill>
                <a:latin typeface="Aptos Display"/>
              </a:defRPr>
            </a:pPr>
            <a:r>
              <a:t>11.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49808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06E7E"/>
                </a:solidFill>
                <a:latin typeface="Aptos"/>
              </a:defRPr>
            </a:pPr>
            <a:r>
              <a:t>Use the linked papers for the final verified literature review.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143000"/>
            <a:ext cx="1097280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EF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92A46"/>
                </a:solidFill>
                <a:latin typeface="Aptos"/>
              </a:defRPr>
            </a:pPr>
            <a:r>
              <a:t>MarketingFM (2025)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1234440"/>
            <a:ext cx="7635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15D91"/>
                </a:solidFill>
                <a:latin typeface="Aptos"/>
              </a:defRPr>
            </a:pPr>
            <a:r>
              <a:t>amazon.science/publications/llms-for-customized-marketing-content-generation-and-evaluation-at-scale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92807"/>
            <a:ext cx="10972800" cy="594360"/>
          </a:xfrm>
          <a:prstGeom prst="roundRect">
            <a:avLst/>
          </a:prstGeom>
          <a:solidFill>
            <a:srgbClr val="EFF4F8"/>
          </a:solidFill>
          <a:ln>
            <a:solidFill>
              <a:srgbClr val="EF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84248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92A46"/>
                </a:solidFill>
                <a:latin typeface="Aptos"/>
              </a:defRPr>
            </a:pPr>
            <a:r>
              <a:t>Cross-lingual effects (Koo, 2025)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984248"/>
            <a:ext cx="7635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15D91"/>
                </a:solidFill>
                <a:latin typeface="Aptos"/>
              </a:defRPr>
            </a:pPr>
            <a:r>
              <a:t>nature.com/articles/s41598-025-16650-w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642615"/>
            <a:ext cx="1097280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EF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734056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92A46"/>
                </a:solidFill>
                <a:latin typeface="Aptos"/>
              </a:defRPr>
            </a:pPr>
            <a:r>
              <a:t>RAG — Lewis et al. (2020)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734056"/>
            <a:ext cx="7635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15D91"/>
                </a:solidFill>
                <a:latin typeface="Aptos"/>
              </a:defRPr>
            </a:pPr>
            <a:r>
              <a:t>arxiv.org/abs/2005.11401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392424"/>
            <a:ext cx="10972800" cy="594360"/>
          </a:xfrm>
          <a:prstGeom prst="roundRect">
            <a:avLst/>
          </a:prstGeom>
          <a:solidFill>
            <a:srgbClr val="EFF4F8"/>
          </a:solidFill>
          <a:ln>
            <a:solidFill>
              <a:srgbClr val="EF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483864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92A46"/>
                </a:solidFill>
                <a:latin typeface="Aptos"/>
              </a:defRPr>
            </a:pPr>
            <a:r>
              <a:t>Multi-agent survey — Li et al. (2024)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483864"/>
            <a:ext cx="7635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15D91"/>
                </a:solidFill>
                <a:latin typeface="Aptos"/>
              </a:defRPr>
            </a:pPr>
            <a:r>
              <a:t>link.springer.com/article/10.1007/s44336-024-00009-2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4142231"/>
            <a:ext cx="1097280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EF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233671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92A46"/>
                </a:solidFill>
                <a:latin typeface="Aptos"/>
              </a:defRPr>
            </a:pPr>
            <a:r>
              <a:t>Multilingual E5 — Wang et al. (2024)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4233671"/>
            <a:ext cx="7635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15D91"/>
                </a:solidFill>
                <a:latin typeface="Aptos"/>
              </a:defRPr>
            </a:pPr>
            <a:r>
              <a:t>microsoft.com/en-us/research/publication/multilingual-e5-text-embeddings-a-technical-report/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4892040"/>
            <a:ext cx="10972800" cy="594360"/>
          </a:xfrm>
          <a:prstGeom prst="roundRect">
            <a:avLst/>
          </a:prstGeom>
          <a:solidFill>
            <a:srgbClr val="EFF4F8"/>
          </a:solidFill>
          <a:ln>
            <a:solidFill>
              <a:srgbClr val="EF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983479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92A46"/>
                </a:solidFill>
                <a:latin typeface="Aptos"/>
              </a:defRPr>
            </a:pPr>
            <a:r>
              <a:t>Dataset: Marketing-Instruct 13K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4983479"/>
            <a:ext cx="7635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15D91"/>
                </a:solidFill>
                <a:latin typeface="Aptos"/>
              </a:defRPr>
            </a:pPr>
            <a:r>
              <a:t>huggingface.co/datasets/suehuynh/marketing-instruct-13k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1400" y="6510528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06E7E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6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A46"/>
                </a:solidFill>
                <a:latin typeface="Aptos Display"/>
              </a:defRPr>
            </a:pPr>
            <a:r>
              <a:t>12. Seminar 1 Deliverables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49808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06E7E"/>
                </a:solidFill>
                <a:latin typeface="Aptos"/>
              </a:defRPr>
            </a:pPr>
            <a:r>
              <a:t>A concise checklist aligned with the requested seminar structure.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371600"/>
          <a:ext cx="1078992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0"/>
                <a:gridCol w="4389120"/>
              </a:tblGrid>
              <a:tr h="47752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Required item</a:t>
                      </a:r>
                    </a:p>
                  </a:txBody>
                  <a:tcPr>
                    <a:solidFill>
                      <a:srgbClr val="192A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Where it appears</a:t>
                      </a:r>
                    </a:p>
                  </a:txBody>
                  <a:tcPr>
                    <a:solidFill>
                      <a:srgbClr val="192A46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Problem framing: inputs, outputs, research question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Slides 2–3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Baseline and comparison variants</a:t>
                      </a:r>
                    </a:p>
                  </a:txBody>
                  <a:tcPr marL="64008" marR="64008" marT="36576" marB="27432" anchor="ctr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Slides 2–3</a:t>
                      </a:r>
                    </a:p>
                  </a:txBody>
                  <a:tcPr marL="64008" marR="64008" marT="36576" marB="27432" anchor="ctr">
                    <a:solidFill>
                      <a:srgbClr val="EFF4F8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Literature coverage and comparison tables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Slides 4–6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Research gap and proposed contribution</a:t>
                      </a:r>
                    </a:p>
                  </a:txBody>
                  <a:tcPr marL="64008" marR="64008" marT="36576" marB="27432" anchor="ctr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Slide 7</a:t>
                      </a:r>
                    </a:p>
                  </a:txBody>
                  <a:tcPr marL="64008" marR="64008" marT="36576" marB="27432" anchor="ctr">
                    <a:solidFill>
                      <a:srgbClr val="EFF4F8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Dataset description and EDA numbers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Slides 8–10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Proposed system workflow</a:t>
                      </a:r>
                    </a:p>
                  </a:txBody>
                  <a:tcPr marL="64008" marR="64008" marT="36576" marB="27432" anchor="ctr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Slide 11</a:t>
                      </a:r>
                    </a:p>
                  </a:txBody>
                  <a:tcPr marL="64008" marR="64008" marT="36576" marB="27432" anchor="ctr">
                    <a:solidFill>
                      <a:srgbClr val="EFF4F8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Tools and implementation candidates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Slide 12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Sources for the review</a:t>
                      </a:r>
                    </a:p>
                  </a:txBody>
                  <a:tcPr marL="64008" marR="64008" marT="36576" marB="27432" anchor="ctr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Slide 13</a:t>
                      </a:r>
                    </a:p>
                  </a:txBody>
                  <a:tcPr marL="64008" marR="64008" marT="36576" marB="27432" anchor="ctr">
                    <a:solidFill>
                      <a:srgbClr val="EFF4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201400" y="6510528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06E7E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A46"/>
                </a:solidFill>
                <a:latin typeface="Aptos Display"/>
              </a:defRPr>
            </a:pPr>
            <a:r>
              <a:t>7. Dataset EDA — Text Length Distribution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49808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06E7E"/>
                </a:solidFill>
                <a:latin typeface="Aptos"/>
              </a:defRPr>
            </a:pPr>
            <a:r>
              <a:t>Word counts of enhanced_prompt and enhanced_completion • 13,141 records</a:t>
            </a:r>
          </a:p>
        </p:txBody>
      </p:sp>
      <p:pic>
        <p:nvPicPr>
          <p:cNvPr id="30" name="Histogram" descr="Histograms of prompt and reference response lengths in words, log scale"/>
          <p:cNvPicPr>
            <a:picLocks noChangeAspect="1"/>
          </p:cNvPicPr>
          <p:nvPr/>
        </p:nvPicPr>
        <p:blipFill>
          <a:blip r:embed="rIdHist"/>
          <a:stretch>
            <a:fillRect/>
          </a:stretch>
        </p:blipFill>
        <p:spPr>
          <a:xfrm>
            <a:off x="1695848" y="1143000"/>
            <a:ext cx="8800000" cy="4400000"/>
          </a:xfrm>
          <a:prstGeom prst="rect">
            <a:avLst/>
          </a:prstGeom>
        </p:spPr>
      </p:pic>
      <p:sp>
        <p:nvSpPr>
          <p:cNvPr id="31" name="Takeaway"/>
          <p:cNvSpPr/>
          <p:nvPr/>
        </p:nvSpPr>
        <p:spPr>
          <a:xfrm>
            <a:off x="640080" y="5700000"/>
            <a:ext cx="10927080" cy="640080"/>
          </a:xfrm>
          <a:prstGeom prst="roundRect">
            <a:avLst/>
          </a:prstGeom>
          <a:solidFill>
            <a:srgbClr val="EBF6F3"/>
          </a:solidFill>
          <a:ln>
            <a:solidFill>
              <a:srgbClr val="EBF6F3"/>
            </a:solidFill>
          </a:ln>
        </p:spPr>
        <p:txBody>
          <a:bodyPr rtlCol="0" anchor="ctr" wrap="square"/>
          <a:lstStyle/>
          <a:p>
            <a:pPr algn="ctr"/>
            <a:r>
              <a:rPr lang="en-US" sz="1400" b="1">
                <a:solidFill>
                  <a:srgbClr val="192A46"/>
                </a:solidFill>
                <a:latin typeface="Aptos"/>
              </a:rPr>
              <a:t>Implication: reference examples (median 191 words) are about 2× longer than prompts (median 95), so we plan to keep top-k small and cap example length in the context.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510528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06E7E"/>
                </a:solidFill>
                <a:latin typeface="Apto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AdGenie Seminar 1 — Verified Research Comparison</dc:title>
  <dc:subject>Research comparison with Input, Output, Data, Embedding, Ranker, and Reranker</dc:subject>
  <dc:creator>Leila Mehbani; Nancy Nezzal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